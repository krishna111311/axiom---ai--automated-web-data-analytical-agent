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lexandria Medium" panose="020B0604020202020204" charset="-78"/>
      <p:regular r:id="rId13"/>
    </p:embeddedFont>
    <p:embeddedFont>
      <p:font typeface="Manrope" panose="020B0604020202020204" charset="0"/>
      <p:regular r:id="rId14"/>
    </p:embeddedFont>
    <p:embeddedFont>
      <p:font typeface="Manrope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65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3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3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3893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kern="0" spc="-3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AI-Driven Web Data Analysis System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86360"/>
            <a:ext cx="10868745" cy="979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Subtitle:</a:t>
            </a: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 Automated, Secure and Self-Healing Framework for Web Data Analytics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High-level flow (visual): Natural Language Query → Web Data → Controlled Dataset → Statistical Analysis → AI Code Generation → Secure Execution → Visualizations → Automated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952280"/>
            <a:ext cx="711480" cy="251420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5" name="Text 3"/>
          <p:cNvSpPr/>
          <p:nvPr/>
        </p:nvSpPr>
        <p:spPr>
          <a:xfrm>
            <a:off x="760691" y="4001889"/>
            <a:ext cx="1122632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PYTHON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55602" y="3952280"/>
            <a:ext cx="1000993" cy="251420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7" name="Text 5"/>
          <p:cNvSpPr/>
          <p:nvPr/>
        </p:nvSpPr>
        <p:spPr>
          <a:xfrm>
            <a:off x="1554818" y="4001889"/>
            <a:ext cx="141214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BRIGHT DATA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39242" y="3952280"/>
            <a:ext cx="723187" cy="251420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9" name="Text 7"/>
          <p:cNvSpPr/>
          <p:nvPr/>
        </p:nvSpPr>
        <p:spPr>
          <a:xfrm>
            <a:off x="2638458" y="4001889"/>
            <a:ext cx="113434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DUCKDB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45076" y="3952280"/>
            <a:ext cx="1259551" cy="251420"/>
          </a:xfrm>
          <a:prstGeom prst="roundRect">
            <a:avLst>
              <a:gd name="adj" fmla="val 49999"/>
            </a:avLst>
          </a:prstGeom>
          <a:solidFill>
            <a:srgbClr val="CDEFFE"/>
          </a:solidFill>
          <a:ln/>
        </p:spPr>
      </p:sp>
      <p:sp>
        <p:nvSpPr>
          <p:cNvPr id="11" name="Text 9"/>
          <p:cNvSpPr/>
          <p:nvPr/>
        </p:nvSpPr>
        <p:spPr>
          <a:xfrm>
            <a:off x="3444293" y="4001889"/>
            <a:ext cx="167070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3.6 FLASH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7274" y="3952280"/>
            <a:ext cx="1583492" cy="25142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AAE4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6490" y="4001889"/>
            <a:ext cx="199464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STATISTICAL AUDITING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3413" y="3952280"/>
            <a:ext cx="714853" cy="25142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AAE4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2629" y="4001889"/>
            <a:ext cx="112600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DOCKER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50913" y="3952280"/>
            <a:ext cx="1076893" cy="25142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AAE4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50130" y="4001889"/>
            <a:ext cx="148804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AAE4F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SELF-HEALING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1475" y="438973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Theme: professional dark AI / data-engineering. Minimal, high-impact overview; emphasize engineered architecture (not an LLM wrapper) and Bright Data record-budget integration.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75734DA-C526-41ED-225C-CBD032FF4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682" y="6458825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405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2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Why Automated Web Data Analysis Is Difficult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61475" y="2058194"/>
            <a:ext cx="372061" cy="37207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98830" y="2115046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Natural-Language Requirements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98830" y="2472730"/>
            <a:ext cx="479363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Users express analysis needs in free text — system must accurately structure tasks.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9132" y="2058194"/>
            <a:ext cx="372061" cy="37207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36487" y="2115046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Dynamic, Unstructured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36487" y="2472730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 pages change shape and include noisy, adversarial content (prompt-injection risk).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332659"/>
            <a:ext cx="372061" cy="37207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98830" y="3389511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Dataset Control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98830" y="3747195"/>
            <a:ext cx="479363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Scrapers can return far more or fewer records than required; exact record-count cannot be assumed at scrape-creation time.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132" y="3332659"/>
            <a:ext cx="372061" cy="372070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36487" y="3389511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Reliability &amp; Security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36487" y="3747195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Generated code can fail; raw rows must not be exposed to the model; deterministic computations should ground statistics.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4768354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5B6E8C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61475" y="501471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Comparison (visual):</a:t>
            </a: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NAIVE SYSTEM: Web → Raw Data → LLM → Code → Result —vs— OUR SYSTEM: Web → Controlled Data → Deterministic Computation → Audited Task → Gemini 3.6 Flash → Sandbox → Verified Result</a:t>
            </a:r>
            <a:endParaRPr lang="en-US" sz="13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9F0246B-8328-296B-041D-DCE5023F2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0061" y="6503913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47031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2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Architecture Around the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391172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Core principle: Gemini 3.6 Flash performs reasoning where AI is valuable; deterministic components handle computation, validation, security and execution.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106440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1577" y="3106440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 Minimization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1577" y="3464123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DuckDB aggregates and profiles data before model reasoning; model sees summaries, not raw rows.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3106440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19233" y="3106440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Deterministic Auditing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819233" y="3464123"/>
            <a:ext cx="471098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Statistical assumptions and validations are executed by deterministic logic (rules &amp; tests).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324052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1577" y="4324052"/>
            <a:ext cx="471088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Secure Execution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81577" y="4681736"/>
            <a:ext cx="4710888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Generated Python runs inside isolated Docker sandboxes with read-only snapshots and network disabled.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9132" y="4324052"/>
            <a:ext cx="413434" cy="41344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19233" y="4324052"/>
            <a:ext cx="471098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Self-Healing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819233" y="4681736"/>
            <a:ext cx="471098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Execution failures feed back to Gemini 3.6 Flash for targeted code correction and adaptive retry.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3DA969C-31A3-F21D-AC89-5B11613207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0061" y="6534105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7149"/>
            <a:ext cx="10868745" cy="372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kern="0" spc="-2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End-to-End System Architecture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356682" y="1167209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7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MAIN ARCHITECTURE DIAGRAM (primary slide)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164" y="1544141"/>
            <a:ext cx="9701267" cy="41835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7915" y="4934341"/>
            <a:ext cx="2433232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Execution &amp; Reporting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897915" y="3965915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Gemini 3.6 Flash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897915" y="3007270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Task Understanding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97915" y="2038844"/>
            <a:ext cx="2200914" cy="275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0" spc="-17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Orchestrator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1475" y="5878413"/>
            <a:ext cx="10868745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Callouts: Orchestrator controls pipeline; DuckDB enforces privacy boundary; Docker isolates execution; Bright Data used at scraping layer under record-budget controller.</a:t>
            </a:r>
            <a:endParaRPr lang="en-US" sz="11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7742F1-1B5D-A5AD-DDE6-E3AC7D7445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1682" y="6481564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7814"/>
            <a:ext cx="10868745" cy="3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22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Solving the Exact-Record Scraping Constraint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198166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innovation: Execution-Level Record-Budget Controller — dataset size is controlled at execution time via throughput estimation, smart cancellation, validation, and adaptive retry. Scraper creation does NOT promise exact record counts.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735" y="1748631"/>
            <a:ext cx="9162225" cy="395108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31230" y="4950446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Run &amp; Validate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31230" y="4035833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Compute Runtime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31230" y="3130458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Start &amp; Estimate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131230" y="2215845"/>
            <a:ext cx="2078615" cy="25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Scraper Setup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61475" y="5834063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Conceptual formula (illustrative): Scraping Rate = Retrieved Records / Execution Time. Estimated Runtime = Required Records / Scraping Rate × Safety Factor. This is adaptive control with validation and retry — not a guaranteed exact-count mechanism.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F76B228-9BFE-6307-C86D-A1A12EE03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0061" y="6516962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0592"/>
            <a:ext cx="10868745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kern="0" spc="-2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Security Is Structural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548269" y="1227138"/>
            <a:ext cx="4906443" cy="5020171"/>
          </a:xfrm>
          <a:prstGeom prst="roundRect">
            <a:avLst>
              <a:gd name="adj" fmla="val 7686"/>
            </a:avLst>
          </a:prstGeom>
          <a:solidFill>
            <a:srgbClr val="AAE4FE"/>
          </a:solidFill>
          <a:ln/>
        </p:spPr>
      </p:sp>
      <p:sp>
        <p:nvSpPr>
          <p:cNvPr id="4" name="Text 2"/>
          <p:cNvSpPr/>
          <p:nvPr/>
        </p:nvSpPr>
        <p:spPr>
          <a:xfrm>
            <a:off x="705328" y="1376362"/>
            <a:ext cx="459232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Privacy Boundary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05328" y="1771154"/>
            <a:ext cx="4592324" cy="1085056"/>
          </a:xfrm>
          <a:prstGeom prst="rect">
            <a:avLst/>
          </a:prstGeom>
          <a:noFill/>
          <a:ln/>
        </p:spPr>
        <p:txBody>
          <a:bodyPr wrap="square" lIns="0" tIns="62849" rIns="0" bIns="0" rtlCol="0" anchor="t">
            <a:normAutofit/>
          </a:bodyPr>
          <a:lstStyle/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 WEB DATA → DUCKDB BROKER → AGGREGATE STATISTICS → GEMINI 3.6 FLASH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RAW ROWS ✕ → AI MODEL (blocked)</a:t>
            </a:r>
            <a:endParaRPr lang="en-US" sz="1200" dirty="0"/>
          </a:p>
          <a:p>
            <a:pPr marL="243840" indent="-243840" algn="l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Sandbox receives read-only, sanitized snapshots 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31228" y="1376362"/>
            <a:ext cx="58052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Prompt-Injection Defense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1228" y="1856482"/>
            <a:ext cx="157059" cy="1570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31228" y="2037655"/>
            <a:ext cx="5805243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9" name="Text 6"/>
          <p:cNvSpPr/>
          <p:nvPr/>
        </p:nvSpPr>
        <p:spPr>
          <a:xfrm>
            <a:off x="5731228" y="2154238"/>
            <a:ext cx="58052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Scan &amp; Detect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31228" y="2549029"/>
            <a:ext cx="58052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Detect suspicious instructions embedded in pages.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1228" y="3096518"/>
            <a:ext cx="157059" cy="15706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731228" y="3293368"/>
            <a:ext cx="5805243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3" name="Text 9"/>
          <p:cNvSpPr/>
          <p:nvPr/>
        </p:nvSpPr>
        <p:spPr>
          <a:xfrm>
            <a:off x="5731228" y="3425627"/>
            <a:ext cx="58052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Neutralize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731228" y="3820418"/>
            <a:ext cx="58052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Strip or transform untrusted content before extraction.</a:t>
            </a:r>
            <a:endParaRPr lang="en-US" sz="12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31228" y="4336554"/>
            <a:ext cx="157059" cy="15706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731228" y="4549080"/>
            <a:ext cx="5805243" cy="19050"/>
          </a:xfrm>
          <a:prstGeom prst="rect">
            <a:avLst/>
          </a:prstGeom>
          <a:solidFill>
            <a:srgbClr val="D4CCFA"/>
          </a:solidFill>
          <a:ln/>
        </p:spPr>
      </p:sp>
      <p:sp>
        <p:nvSpPr>
          <p:cNvPr id="17" name="Text 12"/>
          <p:cNvSpPr/>
          <p:nvPr/>
        </p:nvSpPr>
        <p:spPr>
          <a:xfrm>
            <a:off x="5731228" y="4697016"/>
            <a:ext cx="58052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Extract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731228" y="5091807"/>
            <a:ext cx="5805243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Produce structured fields for downstream processing.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731228" y="5622627"/>
            <a:ext cx="580524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Principle:</a:t>
            </a: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Model reasons over sanitized structured summaries, not raw page instructions.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0BD460F-831A-AF09-C8D4-B28D4C5711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30061" y="6483287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312"/>
            <a:ext cx="10868745" cy="3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22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Deterministic Statistical Assumption Audit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147663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Statistical validity is determined by deterministic audit logic prior to model-driven analysis recommendations.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246" y="1490067"/>
            <a:ext cx="9089103" cy="44682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98778" y="1890773"/>
            <a:ext cx="2078624" cy="25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Time Series / Group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998778" y="2224516"/>
            <a:ext cx="4203441" cy="19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Autocorr or distribution tests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98778" y="2934731"/>
            <a:ext cx="2078624" cy="25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98778" y="3268473"/>
            <a:ext cx="4203441" cy="192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 class imbalance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98778" y="3978688"/>
            <a:ext cx="2078624" cy="25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Regression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98778" y="4312431"/>
            <a:ext cx="4203441" cy="19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Check target skew &amp; VIF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08016" y="5022645"/>
            <a:ext cx="2078625" cy="25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Identify Type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08016" y="5356389"/>
            <a:ext cx="4203440" cy="192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Determine analysis category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6092627"/>
            <a:ext cx="114783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Example audit outcome: CATEGORY × PRICE → Non-normality &amp; small groups → KRUSKAL-WALLIS recommended (deterministic decision, not guessed by LLM).</a:t>
            </a:r>
            <a:endParaRPr lang="en-US" sz="11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477AF0-2BFE-7650-C2F6-4D24E844F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0061" y="6534105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245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kern="0" spc="-2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From Natural Language to Verified Executable Code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356682" y="1133574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Generate → Execute → Diagnose → Repair → Execute Again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9876" y="1443137"/>
            <a:ext cx="8311942" cy="32586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38787" y="1602947"/>
            <a:ext cx="1521604" cy="4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Structured Task &amp; Specs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531153" y="1602947"/>
            <a:ext cx="1521604" cy="489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Gemini 3.6 Flash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31153" y="4052791"/>
            <a:ext cx="1521604" cy="4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Generate &amp; Execute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138787" y="4052791"/>
            <a:ext cx="1521604" cy="4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Diagnose &amp; Repair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61475" y="4820841"/>
            <a:ext cx="10868745" cy="1445816"/>
          </a:xfrm>
          <a:prstGeom prst="roundRect">
            <a:avLst>
              <a:gd name="adj" fmla="val 13727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12780" y="4972149"/>
            <a:ext cx="105661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Sandbox Characteristics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2780" y="5242322"/>
            <a:ext cx="10566136" cy="873026"/>
          </a:xfrm>
          <a:prstGeom prst="rect">
            <a:avLst/>
          </a:prstGeom>
          <a:noFill/>
          <a:ln/>
        </p:spPr>
        <p:txBody>
          <a:bodyPr wrap="square" lIns="0" tIns="52925" rIns="0" bIns="0" rtlCol="0" anchor="t">
            <a:normAutofit/>
          </a:bodyPr>
          <a:lstStyle/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Isolated execution</a:t>
            </a:r>
            <a:endParaRPr lang="en-US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Read-only data snapshot</a:t>
            </a:r>
            <a:endParaRPr lang="en-US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Network disabled</a:t>
            </a:r>
            <a:endParaRPr lang="en-US" sz="1000" dirty="0"/>
          </a:p>
          <a:p>
            <a:pPr marL="203200" indent="-203200" algn="l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Controlled runtime &amp; sanitized stdout/stderr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095D9B5-F049-7C36-25A9-66BF7B7B7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8807" y="6534105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8720"/>
            <a:ext cx="10868745" cy="39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kern="0" spc="-2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End-to-End Demonstration (Worked Example)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897113" y="1792585"/>
            <a:ext cx="5124024" cy="157063"/>
          </a:xfrm>
          <a:prstGeom prst="roundRect">
            <a:avLst>
              <a:gd name="adj" fmla="val 49999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8534" y="2256036"/>
            <a:ext cx="50456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1. Natural-Language Request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8534" y="2591098"/>
            <a:ext cx="5045643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“Analyze relationship between smartphone price and customer rating; produce labeled visualizations.”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6097" y="1556941"/>
            <a:ext cx="5124024" cy="157063"/>
          </a:xfrm>
          <a:prstGeom prst="roundRect">
            <a:avLst>
              <a:gd name="adj" fmla="val 49999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27517" y="2020391"/>
            <a:ext cx="50456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2–5. Structuring, Scraper Creation &amp; Record-Budget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27517" y="2355453"/>
            <a:ext cx="504564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 structuring → Scraper creation (URL, fields) → Estimate throughput → Run with smart cancellation → Validate count → Adaptive retry if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7113" y="3789958"/>
            <a:ext cx="5124024" cy="157063"/>
          </a:xfrm>
          <a:prstGeom prst="roundRect">
            <a:avLst>
              <a:gd name="adj" fmla="val 49999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534" y="4253409"/>
            <a:ext cx="50456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6–8. Ingest, Profile, Audit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8534" y="4588470"/>
            <a:ext cx="504564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DuckDB ingestion → data profiling (price distribution, rating distribution, missingness) → deterministic assumption audit → visualization plan.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6097" y="3554313"/>
            <a:ext cx="5124024" cy="157063"/>
          </a:xfrm>
          <a:prstGeom prst="roundRect">
            <a:avLst>
              <a:gd name="adj" fmla="val 49999"/>
            </a:avLst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517" y="4017764"/>
            <a:ext cx="5045643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9–12. Code Generation → Execution → Self-Healing → Output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27517" y="4598392"/>
            <a:ext cx="504564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3.6 Flash generates Python → Docker executes → on failure produce trace &amp; corrective iteration → final output: Python script + charts + metrics + Markdown report.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1475" y="5658842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Visualization cards (examples): Price distribution, Rating distribution, Price vs Rating scatter, Price-range vs Rating comparison. No numeric claims presented without experiment data.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1635522"/>
            <a:ext cx="471277" cy="471289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9245" y="1753394"/>
            <a:ext cx="235639" cy="23564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170458" y="1399877"/>
            <a:ext cx="471277" cy="471289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228" y="1517749"/>
            <a:ext cx="235639" cy="235645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61475" y="3632895"/>
            <a:ext cx="471277" cy="471289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9245" y="3750766"/>
            <a:ext cx="235639" cy="23564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170458" y="3397250"/>
            <a:ext cx="471277" cy="471289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88228" y="3515122"/>
            <a:ext cx="235639" cy="2356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FDBA8F7-562F-CD84-983F-13631EE9DE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30061" y="6456363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500"/>
            <a:ext cx="10868745" cy="268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17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What Makes Our System Different?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6089498" y="979884"/>
            <a:ext cx="12700" cy="4720828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4" name="Shape 2"/>
          <p:cNvSpPr/>
          <p:nvPr/>
        </p:nvSpPr>
        <p:spPr>
          <a:xfrm>
            <a:off x="648775" y="979884"/>
            <a:ext cx="5434373" cy="645021"/>
          </a:xfrm>
          <a:custGeom>
            <a:avLst/>
            <a:gdLst/>
            <a:ahLst/>
            <a:cxnLst/>
            <a:rect l="l" t="t" r="r" b="b"/>
            <a:pathLst>
              <a:path w="5434373" h="645021">
                <a:moveTo>
                  <a:pt x="134380" y="0"/>
                </a:moveTo>
                <a:lnTo>
                  <a:pt x="5434373" y="0"/>
                </a:lnTo>
                <a:lnTo>
                  <a:pt x="5434373" y="645021"/>
                </a:lnTo>
                <a:lnTo>
                  <a:pt x="134380" y="645021"/>
                </a:lnTo>
                <a:arcTo wR="134380" hR="134384" stAng="5400000" swAng="5400000"/>
                <a:lnTo>
                  <a:pt x="0" y="134384"/>
                </a:lnTo>
                <a:arcTo wR="134380" hR="134384" stAng="10800000" swAng="5400000"/>
                <a:close/>
              </a:path>
            </a:pathLst>
          </a:cu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2576" y="1093688"/>
            <a:ext cx="52131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01 — SINGLE FLASH MODEL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576" y="1303437"/>
            <a:ext cx="521312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Gemini 3.6 Flash is the single AI reasoning layer; architecture supplies the rest.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108547" y="1764605"/>
            <a:ext cx="5434373" cy="721122"/>
          </a:xfrm>
          <a:custGeom>
            <a:avLst/>
            <a:gdLst/>
            <a:ahLst/>
            <a:cxnLst/>
            <a:rect l="l" t="t" r="r" b="b"/>
            <a:pathLst>
              <a:path w="5434373" h="721122">
                <a:moveTo>
                  <a:pt x="0" y="0"/>
                </a:moveTo>
                <a:lnTo>
                  <a:pt x="5299992" y="0"/>
                </a:lnTo>
                <a:arcTo wR="134380" hR="134384" stAng="16200000" swAng="5400000"/>
                <a:lnTo>
                  <a:pt x="5434373" y="586738"/>
                </a:lnTo>
                <a:arcTo wR="134380" hR="134384" stAng="0" swAng="5400000"/>
                <a:lnTo>
                  <a:pt x="0" y="721122"/>
                </a:lnTo>
                <a:lnTo>
                  <a:pt x="0" y="0"/>
                </a:lnTo>
                <a:close/>
              </a:path>
            </a:pathLst>
          </a:cu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5998" y="1878409"/>
            <a:ext cx="52131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02 — INTELLIGENT RECORD-BUDGET CONTROL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5998" y="2088158"/>
            <a:ext cx="521312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Dataset size controlled during execution via estimation, cancellation, validation and adaptive retry; Bright Data used for scraping under this controller.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48775" y="2625427"/>
            <a:ext cx="5434373" cy="645021"/>
          </a:xfrm>
          <a:custGeom>
            <a:avLst/>
            <a:gdLst/>
            <a:ahLst/>
            <a:cxnLst/>
            <a:rect l="l" t="t" r="r" b="b"/>
            <a:pathLst>
              <a:path w="5434373" h="645021">
                <a:moveTo>
                  <a:pt x="134380" y="0"/>
                </a:moveTo>
                <a:lnTo>
                  <a:pt x="5434373" y="0"/>
                </a:lnTo>
                <a:lnTo>
                  <a:pt x="5434373" y="645021"/>
                </a:lnTo>
                <a:lnTo>
                  <a:pt x="134380" y="645021"/>
                </a:lnTo>
                <a:arcTo wR="134380" hR="134384" stAng="5400000" swAng="5400000"/>
                <a:lnTo>
                  <a:pt x="0" y="134384"/>
                </a:lnTo>
                <a:arcTo wR="134380" hR="134384" stAng="10800000" swAng="5400000"/>
                <a:close/>
              </a:path>
            </a:pathLst>
          </a:cu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576" y="2739231"/>
            <a:ext cx="52131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03 — STRUCTURAL DATA PRIVACY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576" y="2948980"/>
            <a:ext cx="521312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 receives aggregates and sanitized snapshots only; DuckDB enforces privacy boundary.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08547" y="3410148"/>
            <a:ext cx="5434373" cy="645021"/>
          </a:xfrm>
          <a:custGeom>
            <a:avLst/>
            <a:gdLst/>
            <a:ahLst/>
            <a:cxnLst/>
            <a:rect l="l" t="t" r="r" b="b"/>
            <a:pathLst>
              <a:path w="5434373" h="645021">
                <a:moveTo>
                  <a:pt x="0" y="0"/>
                </a:moveTo>
                <a:lnTo>
                  <a:pt x="5299992" y="0"/>
                </a:lnTo>
                <a:arcTo wR="134380" hR="134384" stAng="16200000" swAng="5400000"/>
                <a:lnTo>
                  <a:pt x="5434373" y="510637"/>
                </a:lnTo>
                <a:arcTo wR="134380" hR="134384" stAng="0" swAng="5400000"/>
                <a:lnTo>
                  <a:pt x="0" y="645021"/>
                </a:lnTo>
                <a:lnTo>
                  <a:pt x="0" y="0"/>
                </a:lnTo>
                <a:close/>
              </a:path>
            </a:pathLst>
          </a:cu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5998" y="3523952"/>
            <a:ext cx="52131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04 — DETERMINISTIC STATISTICAL AUDIT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15998" y="3733701"/>
            <a:ext cx="521312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 logic determines statistical validity before model-driven decisions.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8775" y="4194870"/>
            <a:ext cx="5434373" cy="645021"/>
          </a:xfrm>
          <a:custGeom>
            <a:avLst/>
            <a:gdLst/>
            <a:ahLst/>
            <a:cxnLst/>
            <a:rect l="l" t="t" r="r" b="b"/>
            <a:pathLst>
              <a:path w="5434373" h="645021">
                <a:moveTo>
                  <a:pt x="134380" y="0"/>
                </a:moveTo>
                <a:lnTo>
                  <a:pt x="5434373" y="0"/>
                </a:lnTo>
                <a:lnTo>
                  <a:pt x="5434373" y="645021"/>
                </a:lnTo>
                <a:lnTo>
                  <a:pt x="134380" y="645021"/>
                </a:lnTo>
                <a:arcTo wR="134380" hR="134384" stAng="5400000" swAng="5400000"/>
                <a:lnTo>
                  <a:pt x="0" y="134384"/>
                </a:lnTo>
                <a:arcTo wR="134380" hR="134384" stAng="10800000" swAng="5400000"/>
                <a:close/>
              </a:path>
            </a:pathLst>
          </a:cu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576" y="4308673"/>
            <a:ext cx="52131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05 — SELF-HEALING CODE EXECUTION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2576" y="4518422"/>
            <a:ext cx="5213120" cy="141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Automatic diagnose-and-repair loop uses execution artifacts to correct generated code.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08547" y="4979591"/>
            <a:ext cx="5434373" cy="721122"/>
          </a:xfrm>
          <a:custGeom>
            <a:avLst/>
            <a:gdLst/>
            <a:ahLst/>
            <a:cxnLst/>
            <a:rect l="l" t="t" r="r" b="b"/>
            <a:pathLst>
              <a:path w="5434373" h="721122">
                <a:moveTo>
                  <a:pt x="0" y="0"/>
                </a:moveTo>
                <a:lnTo>
                  <a:pt x="5299992" y="0"/>
                </a:lnTo>
                <a:arcTo wR="134380" hR="134384" stAng="16200000" swAng="5400000"/>
                <a:lnTo>
                  <a:pt x="5434373" y="586738"/>
                </a:lnTo>
                <a:arcTo wR="134380" hR="134384" stAng="0" swAng="5400000"/>
                <a:lnTo>
                  <a:pt x="0" y="721122"/>
                </a:lnTo>
                <a:lnTo>
                  <a:pt x="0" y="0"/>
                </a:lnTo>
                <a:close/>
              </a:path>
            </a:pathLst>
          </a:cu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5998" y="5093395"/>
            <a:ext cx="521312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-11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06 — SECURE &amp; USER-CONTROLLED PIPELINE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15998" y="5303143"/>
            <a:ext cx="5213120" cy="283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Prompt-injection defenses, sandbox isolation, modular execution and interactive control preserve safety and traceability.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1475" y="5806083"/>
            <a:ext cx="10868745" cy="12700"/>
          </a:xfrm>
          <a:prstGeom prst="roundRect">
            <a:avLst>
              <a:gd name="adj" fmla="val 49999"/>
            </a:avLst>
          </a:prstGeom>
          <a:solidFill>
            <a:srgbClr val="5B6E8C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924153"/>
            <a:ext cx="10868745" cy="362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THE INTELLIGENCE IS NOT ONLY IN THE MODEL — IT IS IN THE ARCHITECTURE AROUND THE MODEL.</a:t>
            </a:r>
            <a:endParaRPr lang="en-US" sz="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8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Final pipeline: Natural Language → Intelligent Scraping → Data Minimization → Statistical Audit → Gemini 3.6 Flash → Secure Execution → Self-Healing → Verified Visualization → Automated Report</a:t>
            </a:r>
            <a:endParaRPr lang="en-US" sz="8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79612C7-5171-05A9-3555-19B558A2B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2761" y="6504957"/>
            <a:ext cx="1200318" cy="3238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974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Alexandria Medium</vt:lpstr>
      <vt:lpstr>Manrope Bold</vt:lpstr>
      <vt:lpstr>Manrope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Mohan Krishna Kengam</cp:lastModifiedBy>
  <cp:revision>2</cp:revision>
  <dcterms:created xsi:type="dcterms:W3CDTF">2026-08-23T19:27:41Z</dcterms:created>
  <dcterms:modified xsi:type="dcterms:W3CDTF">2026-08-23T19:30:26Z</dcterms:modified>
</cp:coreProperties>
</file>